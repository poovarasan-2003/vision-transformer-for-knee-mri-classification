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01" r:id="rId2"/>
    <p:sldId id="359" r:id="rId3"/>
    <p:sldId id="360" r:id="rId4"/>
    <p:sldId id="363" r:id="rId5"/>
    <p:sldId id="365" r:id="rId6"/>
    <p:sldId id="367" r:id="rId7"/>
    <p:sldId id="368" r:id="rId8"/>
    <p:sldId id="361" r:id="rId9"/>
    <p:sldId id="366" r:id="rId10"/>
    <p:sldId id="364" r:id="rId11"/>
    <p:sldId id="3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2046"/>
    <a:srgbClr val="FC9BC1"/>
    <a:srgbClr val="EF6181"/>
    <a:srgbClr val="C04D3A"/>
    <a:srgbClr val="365AC4"/>
    <a:srgbClr val="D57903"/>
    <a:srgbClr val="CB3340"/>
    <a:srgbClr val="349353"/>
    <a:srgbClr val="00A4B1"/>
    <a:srgbClr val="901A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214638-5624-614D-518E-B4451EAE6702}" v="858" dt="2026-03-26T21:13:20.519"/>
    <p1510:client id="{6C0325D4-CE22-D5A4-478F-C7EAA9BA8353}" v="184" dt="2026-03-26T21:08:58.1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34" autoAdjust="0"/>
    <p:restoredTop sz="94719" autoAdjust="0"/>
  </p:normalViewPr>
  <p:slideViewPr>
    <p:cSldViewPr snapToGrid="0">
      <p:cViewPr varScale="1">
        <p:scale>
          <a:sx n="78" d="100"/>
          <a:sy n="78" d="100"/>
        </p:scale>
        <p:origin x="1152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459"/>
    </p:cViewPr>
  </p:sorterViewPr>
  <p:notesViewPr>
    <p:cSldViewPr snapToGrid="0">
      <p:cViewPr varScale="1">
        <p:scale>
          <a:sx n="65" d="100"/>
          <a:sy n="65" d="100"/>
        </p:scale>
        <p:origin x="2938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4AE122-9061-BF75-B083-DDEFA1D860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53072C-C00A-6448-4E7B-490B2E5B74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17E19-3806-4224-92A0-BB1695E0B370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835E8-2126-4CA4-D526-413407E942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7F2E9-D315-0453-CBCB-5DE89B9678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C61EC-C139-41C3-8ED4-C9E2E6478A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4279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D2D71-F84C-234F-8709-9097672961D2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59787-1E21-8F46-B778-F1B8A493EE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90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36C0-B567-4D8E-A7E7-70FC089BEE9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3585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43009-C650-7BEC-00A7-97EA0AF18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546354-F344-689A-D9E4-C4EBD519F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2A976-9452-756E-EBA8-6EEA24431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A02F5-9614-475F-E5B4-94B56C5712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36C0-B567-4D8E-A7E7-70FC089BEE9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277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9016D-A017-BE78-40CE-56691732D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30C8A-929D-290F-E7FC-6869F4679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A8040-0413-C8F0-6243-0EBC3927C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76E-6B02-F980-500B-92BEE0ED93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36C0-B567-4D8E-A7E7-70FC089BEE9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353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D9789-3CD8-9907-FB62-B49D8C54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E904C7-F034-0980-B762-19DD7DAE8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2435C-3F12-1205-5FA8-F3CA249B6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F5DC1-28CE-DCB0-2D92-7490C3C1B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36C0-B567-4D8E-A7E7-70FC089BEE9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1131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2FB1-CD7F-B32A-6418-05940CAA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6BFE6-9F9D-0D7D-44A7-B1200ABFA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3E542-E6CA-0AE0-8972-925889E63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8E85C-71E4-7CDA-773A-DF605A924F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36C0-B567-4D8E-A7E7-70FC089BEE9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907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291F1-3236-08D1-D676-4437246D5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FCC0F-EB0F-0D67-223E-FB94274A7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058D0-517B-75A9-B794-BCD273BCA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D654D-9A95-5187-255C-92FE7AA4DF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36C0-B567-4D8E-A7E7-70FC089BEE9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889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CC1CB-8BC7-DD8B-4AA7-2DD32C1AB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8A27E-CE22-5A86-51D3-AC67D8C6C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9C1D9-BE7C-5D06-7D3B-A856FE751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6C356-1838-36A2-D890-EF73D84B9C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36C0-B567-4D8E-A7E7-70FC089BEE9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227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68272-BF8F-0F8C-AC0C-8CCC3E6D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112FD-C24F-07A2-D575-552EE7542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FB1EF4-2D58-7DD2-F883-A3754731B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6DDFC-5941-0877-3BC7-DE5E684010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36C0-B567-4D8E-A7E7-70FC089BEE9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47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46A0A-448E-646C-E584-4957625F0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9AC23-9CBF-9567-77BD-DEA76F8AE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55B87-7512-49AC-9418-358CEC5D1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00F5A-648B-63A4-4AE8-073D6AD362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36C0-B567-4D8E-A7E7-70FC089BEE9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216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BB56E-7E3C-95DB-0988-87734175E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0E517-B2CA-5370-9767-9E4A9527D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0D2FC-B866-A480-FDE5-CDE68A36F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C0D73-A62C-A74C-EA75-A60E79DD5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2936C0-B567-4D8E-A7E7-70FC089BEE9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396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5176672-0E65-E3A9-3460-482E9AD4FF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6314" y="1591733"/>
            <a:ext cx="3753681" cy="1411112"/>
          </a:xfrm>
        </p:spPr>
        <p:txBody>
          <a:bodyPr anchor="b">
            <a:noAutofit/>
          </a:bodyPr>
          <a:lstStyle>
            <a:lvl1pPr algn="ctr">
              <a:defRPr sz="3200" cap="all" spc="700" baseline="0">
                <a:solidFill>
                  <a:schemeClr val="bg1"/>
                </a:solidFill>
                <a:latin typeface="Gotham" panose="02000604030000020004" pitchFamily="2" charset="0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6C82845-606C-6B6A-8247-030236E9A7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6314" y="3025423"/>
            <a:ext cx="3753681" cy="1140177"/>
          </a:xfrm>
        </p:spPr>
        <p:txBody>
          <a:bodyPr>
            <a:noAutofit/>
          </a:bodyPr>
          <a:lstStyle>
            <a:lvl1pPr marL="0" indent="0" algn="ctr">
              <a:buNone/>
              <a:defRPr sz="3200" b="1" cap="all" spc="600" baseline="0">
                <a:solidFill>
                  <a:schemeClr val="bg1"/>
                </a:solidFill>
                <a:latin typeface="Gotham" panose="0200060403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B361C2B7-268A-8B7D-0308-EEC2B6E993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6315" y="4165600"/>
            <a:ext cx="3753681" cy="711200"/>
          </a:xfrm>
        </p:spPr>
        <p:txBody>
          <a:bodyPr>
            <a:normAutofit/>
          </a:bodyPr>
          <a:lstStyle>
            <a:lvl1pPr marL="0" indent="0" algn="ctr">
              <a:buNone/>
              <a:defRPr sz="1600" cap="all" baseline="0">
                <a:solidFill>
                  <a:schemeClr val="bg1"/>
                </a:solidFill>
                <a:latin typeface="Gotham" panose="02000604030000020004" pitchFamily="2" charset="0"/>
              </a:defRPr>
            </a:lvl1pPr>
          </a:lstStyle>
          <a:p>
            <a:pPr lvl="0"/>
            <a:r>
              <a:rPr lang="en-GB" dirty="0"/>
              <a:t>Version | Date | Author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12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0762-2658-BA91-BF54-8C5E01130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591733"/>
            <a:ext cx="9144000" cy="1411112"/>
          </a:xfrm>
        </p:spPr>
        <p:txBody>
          <a:bodyPr anchor="b">
            <a:noAutofit/>
          </a:bodyPr>
          <a:lstStyle>
            <a:lvl1pPr algn="ctr">
              <a:defRPr sz="4000" cap="all" spc="700" baseline="0">
                <a:solidFill>
                  <a:schemeClr val="bg1"/>
                </a:solidFill>
                <a:latin typeface="Gotham" panose="02000604030000020004" pitchFamily="2" charset="0"/>
              </a:defRPr>
            </a:lvl1pPr>
          </a:lstStyle>
          <a:p>
            <a:r>
              <a:rPr lang="en-GB" dirty="0"/>
              <a:t>DIVIDER SLIDE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CDFE0-6391-CDAC-0749-A983AFE2DCB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025423"/>
            <a:ext cx="9144000" cy="1140177"/>
          </a:xfrm>
        </p:spPr>
        <p:txBody>
          <a:bodyPr>
            <a:noAutofit/>
          </a:bodyPr>
          <a:lstStyle>
            <a:lvl1pPr marL="0" indent="0" algn="ctr">
              <a:buNone/>
              <a:defRPr sz="4000" b="1" cap="all" spc="600" baseline="0">
                <a:solidFill>
                  <a:schemeClr val="bg1"/>
                </a:solidFill>
                <a:latin typeface="Gotham" panose="0200060403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DIVIDER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600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0762-2658-BA91-BF54-8C5E01130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6655" y="494452"/>
            <a:ext cx="8595361" cy="55057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800" cap="all" spc="600" baseline="0">
                <a:solidFill>
                  <a:srgbClr val="25384A"/>
                </a:solidFill>
                <a:latin typeface="Gotham" panose="02000604030000020004" pitchFamily="2" charset="0"/>
              </a:defRPr>
            </a:lvl1pPr>
          </a:lstStyle>
          <a:p>
            <a:r>
              <a:rPr lang="en-GB" dirty="0"/>
              <a:t>Blank Slide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7429F4-9DF5-8042-BC0C-1B1126301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407516" y="0"/>
            <a:ext cx="3784481" cy="120768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6C873-B65C-14E6-DF29-CC55D1E99E6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38200" y="6507424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36F888-3CF8-E79C-DE51-C5483A8B37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305092" y="6507424"/>
            <a:ext cx="5581816" cy="365125"/>
          </a:xfrm>
        </p:spPr>
        <p:txBody>
          <a:bodyPr/>
          <a:lstStyle/>
          <a:p>
            <a:r>
              <a:rPr lang="en-US" dirty="0"/>
              <a:t>Anjan Dutta | Artificial Neural Networks | EEEM076 Applied Machine Learning (Online)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CB2F89-29D2-8B00-F055-254A926817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610600" y="6507424"/>
            <a:ext cx="2743200" cy="365125"/>
          </a:xfrm>
        </p:spPr>
        <p:txBody>
          <a:bodyPr/>
          <a:lstStyle/>
          <a:p>
            <a:fld id="{583DDE54-A93F-264A-8772-B0E2E830415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945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Copy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0762-2658-BA91-BF54-8C5E01130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6655" y="494452"/>
            <a:ext cx="8595361" cy="55057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800" cap="all" spc="600" baseline="0">
                <a:solidFill>
                  <a:srgbClr val="25384A"/>
                </a:solidFill>
                <a:latin typeface="Gotham" panose="02000604030000020004" pitchFamily="2" charset="0"/>
              </a:defRPr>
            </a:lvl1pPr>
          </a:lstStyle>
          <a:p>
            <a:r>
              <a:rPr lang="en-GB" dirty="0"/>
              <a:t>Body Copy Slide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7429F4-9DF5-8042-BC0C-1B1126301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407516" y="0"/>
            <a:ext cx="3784481" cy="1207686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A2694CB-0E4C-795B-5664-9056C48464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6655" y="1539481"/>
            <a:ext cx="10860688" cy="456187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rgbClr val="25384A"/>
                </a:solidFill>
                <a:latin typeface="Gotham" panose="02000604030000020004" pitchFamily="2" charset="0"/>
              </a:defRPr>
            </a:lvl1pPr>
            <a:lvl2pPr marL="457200" indent="0">
              <a:buFont typeface="Arial" panose="020B0604020202020204" pitchFamily="34" charset="0"/>
              <a:buNone/>
              <a:defRPr sz="1800">
                <a:solidFill>
                  <a:srgbClr val="25384A"/>
                </a:solidFill>
                <a:latin typeface="Gotham" panose="02000604030000020004" pitchFamily="2" charset="0"/>
              </a:defRPr>
            </a:lvl2pPr>
            <a:lvl3pPr marL="914400" indent="0">
              <a:buFont typeface="Arial" panose="020B0604020202020204" pitchFamily="34" charset="0"/>
              <a:buNone/>
              <a:defRPr sz="1600">
                <a:solidFill>
                  <a:srgbClr val="25384A"/>
                </a:solidFill>
                <a:latin typeface="Gotham" panose="02000604030000020004" pitchFamily="2" charset="0"/>
              </a:defRPr>
            </a:lvl3pPr>
            <a:lvl4pPr marL="1371600" indent="0">
              <a:buFont typeface="Arial" panose="020B0604020202020204" pitchFamily="34" charset="0"/>
              <a:buNone/>
              <a:defRPr sz="1500">
                <a:solidFill>
                  <a:srgbClr val="25384A"/>
                </a:solidFill>
                <a:latin typeface="Gotham" panose="02000604030000020004" pitchFamily="2" charset="0"/>
              </a:defRPr>
            </a:lvl4pPr>
            <a:lvl5pPr marL="1828800" indent="0">
              <a:buFont typeface="Arial" panose="020B0604020202020204" pitchFamily="34" charset="0"/>
              <a:buNone/>
              <a:defRPr sz="1400">
                <a:solidFill>
                  <a:srgbClr val="25384A"/>
                </a:solidFill>
                <a:latin typeface="Gotham" panose="02000604030000020004" pitchFamily="2" charset="0"/>
              </a:defRPr>
            </a:lvl5pPr>
          </a:lstStyle>
          <a:p>
            <a:pPr lvl="0"/>
            <a:r>
              <a:rPr lang="en-GB" dirty="0"/>
              <a:t>Body copy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B85DB-1B0E-313D-5E4D-A9885DA964E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38200" y="6507426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7EC88-C585-043D-DB93-B23BF703EE9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507426"/>
            <a:ext cx="2743200" cy="365125"/>
          </a:xfrm>
        </p:spPr>
        <p:txBody>
          <a:bodyPr/>
          <a:lstStyle/>
          <a:p>
            <a:fld id="{583DDE54-A93F-264A-8772-B0E2E830415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9FBA32E-29D5-5FB4-5AE8-9943BA5514E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305092" y="6507426"/>
            <a:ext cx="5581816" cy="365125"/>
          </a:xfrm>
        </p:spPr>
        <p:txBody>
          <a:bodyPr/>
          <a:lstStyle/>
          <a:p>
            <a:r>
              <a:rPr lang="en-US" dirty="0"/>
              <a:t>Anjan Dutta | Artificial Neural Networks | EEEM076 Applied Machine Learning (Online)</a:t>
            </a:r>
          </a:p>
        </p:txBody>
      </p:sp>
    </p:spTree>
    <p:extLst>
      <p:ext uri="{BB962C8B-B14F-4D97-AF65-F5344CB8AC3E}">
        <p14:creationId xmlns:p14="http://schemas.microsoft.com/office/powerpoint/2010/main" val="4063400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Cop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0762-2658-BA91-BF54-8C5E01130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6655" y="494452"/>
            <a:ext cx="8595361" cy="55057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800" cap="all" spc="600" baseline="0">
                <a:solidFill>
                  <a:srgbClr val="25384A"/>
                </a:solidFill>
                <a:latin typeface="Gotham" panose="02000604030000020004" pitchFamily="2" charset="0"/>
              </a:defRPr>
            </a:lvl1pPr>
          </a:lstStyle>
          <a:p>
            <a:r>
              <a:rPr lang="en-GB" dirty="0" err="1"/>
              <a:t>BUllet</a:t>
            </a:r>
            <a:r>
              <a:rPr lang="en-GB" dirty="0"/>
              <a:t> Copy Slide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7429F4-9DF5-8042-BC0C-1B1126301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407516" y="0"/>
            <a:ext cx="3784481" cy="1207686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A2694CB-0E4C-795B-5664-9056C48464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6655" y="1539481"/>
            <a:ext cx="10852736" cy="4561870"/>
          </a:xfrm>
        </p:spPr>
        <p:txBody>
          <a:bodyPr>
            <a:normAutofit/>
          </a:bodyPr>
          <a:lstStyle>
            <a:lvl1pPr marL="180000" indent="-180000"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rgbClr val="25384A"/>
                </a:solidFill>
                <a:latin typeface="Gotham" panose="02000604030000020004" pitchFamily="2" charset="0"/>
              </a:defRPr>
            </a:lvl1pPr>
            <a:lvl2pPr marL="504000" indent="-180000">
              <a:buClr>
                <a:schemeClr val="bg2"/>
              </a:buClr>
              <a:buFont typeface="Arial" panose="020B0604020202020204" pitchFamily="34" charset="0"/>
              <a:buChar char="•"/>
              <a:defRPr sz="1400">
                <a:solidFill>
                  <a:srgbClr val="25384A"/>
                </a:solidFill>
                <a:latin typeface="Gotham" panose="02000604030000020004" pitchFamily="2" charset="0"/>
              </a:defRPr>
            </a:lvl2pPr>
            <a:lvl3pPr marL="792000" indent="-180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rgbClr val="25384A"/>
                </a:solidFill>
                <a:latin typeface="Gotham" panose="02000604030000020004" pitchFamily="2" charset="0"/>
              </a:defRPr>
            </a:lvl3pPr>
            <a:lvl4pPr marL="1371600" indent="0">
              <a:buFont typeface="Arial" panose="020B0604020202020204" pitchFamily="34" charset="0"/>
              <a:buNone/>
              <a:defRPr sz="1500">
                <a:solidFill>
                  <a:srgbClr val="25384A"/>
                </a:solidFill>
                <a:latin typeface="Gotham" panose="02000604030000020004" pitchFamily="2" charset="0"/>
              </a:defRPr>
            </a:lvl4pPr>
            <a:lvl5pPr marL="1828800" indent="0">
              <a:buFont typeface="Arial" panose="020B0604020202020204" pitchFamily="34" charset="0"/>
              <a:buNone/>
              <a:defRPr sz="1400">
                <a:solidFill>
                  <a:srgbClr val="25384A"/>
                </a:solidFill>
                <a:latin typeface="Gotham" panose="02000604030000020004" pitchFamily="2" charset="0"/>
              </a:defRPr>
            </a:lvl5pPr>
          </a:lstStyle>
          <a:p>
            <a:pPr lvl="0"/>
            <a:r>
              <a:rPr lang="en-GB" dirty="0"/>
              <a:t>First level bullet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A5885-A28D-FDF9-7562-8F0535DD436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38200" y="6507424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C7EBE-A429-A0B6-22BA-F52C9086F9C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507424"/>
            <a:ext cx="2743200" cy="365125"/>
          </a:xfrm>
        </p:spPr>
        <p:txBody>
          <a:bodyPr/>
          <a:lstStyle/>
          <a:p>
            <a:fld id="{583DDE54-A93F-264A-8772-B0E2E830415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2CCFE61-ADD8-83AC-2F5F-141EB2E4538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305092" y="6507424"/>
            <a:ext cx="5581816" cy="365125"/>
          </a:xfrm>
        </p:spPr>
        <p:txBody>
          <a:bodyPr/>
          <a:lstStyle/>
          <a:p>
            <a:r>
              <a:rPr lang="en-US" dirty="0"/>
              <a:t>Anjan Dutta | Artificial Neural Networks | EEEM076 Applied Machine Learning (Online)</a:t>
            </a:r>
          </a:p>
        </p:txBody>
      </p:sp>
    </p:spTree>
    <p:extLst>
      <p:ext uri="{BB962C8B-B14F-4D97-AF65-F5344CB8AC3E}">
        <p14:creationId xmlns:p14="http://schemas.microsoft.com/office/powerpoint/2010/main" val="3927829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0762-2658-BA91-BF54-8C5E01130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6655" y="494452"/>
            <a:ext cx="8595361" cy="542893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800" cap="all" spc="600" baseline="0">
                <a:solidFill>
                  <a:srgbClr val="25384A"/>
                </a:solidFill>
                <a:latin typeface="Gotham" panose="02000604030000020004" pitchFamily="2" charset="0"/>
              </a:defRPr>
            </a:lvl1pPr>
          </a:lstStyle>
          <a:p>
            <a:r>
              <a:rPr lang="en-GB" dirty="0"/>
              <a:t>Content &amp; Table Slide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7429F4-9DF5-8042-BC0C-1B1126301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7514" y="0"/>
            <a:ext cx="3784485" cy="1207686"/>
          </a:xfrm>
          <a:prstGeom prst="rect">
            <a:avLst/>
          </a:prstGeom>
        </p:spPr>
      </p:pic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C3C0078C-C869-4E28-0365-2BBF6E34D6E5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676655" y="1553869"/>
            <a:ext cx="10860688" cy="2742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25384A"/>
                </a:solidFill>
                <a:latin typeface="Gotham" panose="02000604030000020004" pitchFamily="2" charset="0"/>
              </a:defRPr>
            </a:lvl1pPr>
          </a:lstStyle>
          <a:p>
            <a:r>
              <a:rPr lang="en-US" dirty="0"/>
              <a:t>Add table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6F08BDA-E418-2248-72A4-CD7157AA2B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6654" y="4855243"/>
            <a:ext cx="10860687" cy="12461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500">
                <a:solidFill>
                  <a:srgbClr val="25384A"/>
                </a:solidFill>
                <a:latin typeface="Gotham" panose="02000604030000020004" pitchFamily="2" charset="0"/>
              </a:defRPr>
            </a:lvl1pPr>
            <a:lvl2pPr marL="457200" indent="0">
              <a:buFont typeface="Arial" panose="020B0604020202020204" pitchFamily="34" charset="0"/>
              <a:buNone/>
              <a:defRPr sz="1800">
                <a:solidFill>
                  <a:srgbClr val="25384A"/>
                </a:solidFill>
                <a:latin typeface="Gotham" panose="02000604030000020004" pitchFamily="2" charset="0"/>
              </a:defRPr>
            </a:lvl2pPr>
            <a:lvl3pPr marL="914400" indent="0">
              <a:buFont typeface="Arial" panose="020B0604020202020204" pitchFamily="34" charset="0"/>
              <a:buNone/>
              <a:defRPr sz="1600">
                <a:solidFill>
                  <a:srgbClr val="25384A"/>
                </a:solidFill>
                <a:latin typeface="Gotham" panose="02000604030000020004" pitchFamily="2" charset="0"/>
              </a:defRPr>
            </a:lvl3pPr>
            <a:lvl4pPr marL="1371600" indent="0">
              <a:buFont typeface="Arial" panose="020B0604020202020204" pitchFamily="34" charset="0"/>
              <a:buNone/>
              <a:defRPr sz="1500">
                <a:solidFill>
                  <a:srgbClr val="25384A"/>
                </a:solidFill>
                <a:latin typeface="Gotham" panose="02000604030000020004" pitchFamily="2" charset="0"/>
              </a:defRPr>
            </a:lvl4pPr>
            <a:lvl5pPr marL="1828800" indent="0">
              <a:buFont typeface="Arial" panose="020B0604020202020204" pitchFamily="34" charset="0"/>
              <a:buNone/>
              <a:defRPr sz="1400">
                <a:solidFill>
                  <a:srgbClr val="25384A"/>
                </a:solidFill>
                <a:latin typeface="Gotham" panose="02000604030000020004" pitchFamily="2" charset="0"/>
              </a:defRPr>
            </a:lvl5pPr>
          </a:lstStyle>
          <a:p>
            <a:pPr lvl="0"/>
            <a:r>
              <a:rPr lang="en-GB" dirty="0"/>
              <a:t>Body copy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6AFF7E4-457E-28E6-5572-B7618DF1A2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6656" y="4466209"/>
            <a:ext cx="10860688" cy="393622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rgbClr val="25384A"/>
                </a:solidFill>
                <a:latin typeface="Gotham" panose="02000604030000020004" pitchFamily="2" charset="0"/>
              </a:defRPr>
            </a:lvl1pPr>
            <a:lvl2pPr marL="457200" indent="0">
              <a:buNone/>
              <a:defRPr sz="1600" b="1">
                <a:solidFill>
                  <a:srgbClr val="25384A"/>
                </a:solidFill>
                <a:latin typeface="Gotham" panose="02000604030000020004" pitchFamily="2" charset="0"/>
              </a:defRPr>
            </a:lvl2pPr>
            <a:lvl3pPr marL="914400" indent="0">
              <a:buNone/>
              <a:defRPr sz="1400" b="1">
                <a:solidFill>
                  <a:srgbClr val="25384A"/>
                </a:solidFill>
                <a:latin typeface="Gotham" panose="02000604030000020004" pitchFamily="2" charset="0"/>
              </a:defRPr>
            </a:lvl3pPr>
            <a:lvl4pPr marL="1371600" indent="0">
              <a:buNone/>
              <a:defRPr sz="1200" b="1">
                <a:solidFill>
                  <a:srgbClr val="25384A"/>
                </a:solidFill>
                <a:latin typeface="Gotham" panose="02000604030000020004" pitchFamily="2" charset="0"/>
              </a:defRPr>
            </a:lvl4pPr>
            <a:lvl5pPr marL="1828800" indent="0">
              <a:buNone/>
              <a:defRPr sz="1200" b="1">
                <a:solidFill>
                  <a:srgbClr val="25384A"/>
                </a:solidFill>
                <a:latin typeface="Gotham" panose="02000604030000020004" pitchFamily="2" charset="0"/>
              </a:defRPr>
            </a:lvl5pPr>
          </a:lstStyle>
          <a:p>
            <a:pPr lvl="0"/>
            <a:r>
              <a:rPr lang="en-GB" dirty="0"/>
              <a:t>Sub headline or lead para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33542-C2DF-17FD-AD75-17094534154F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838200" y="6507419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FEF21A-CA57-4A64-C6D4-919796E970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610600" y="6507419"/>
            <a:ext cx="2743200" cy="365125"/>
          </a:xfrm>
        </p:spPr>
        <p:txBody>
          <a:bodyPr/>
          <a:lstStyle/>
          <a:p>
            <a:fld id="{583DDE54-A93F-264A-8772-B0E2E830415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7D83CF2-C26B-078E-DDB2-6134B16BEEA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305092" y="6507419"/>
            <a:ext cx="5581816" cy="365125"/>
          </a:xfrm>
        </p:spPr>
        <p:txBody>
          <a:bodyPr/>
          <a:lstStyle/>
          <a:p>
            <a:r>
              <a:rPr lang="en-US" dirty="0"/>
              <a:t>Anjan Dutta | Artificial Neural Networks | EEEM076 Applied Machine Learning (Online)</a:t>
            </a:r>
          </a:p>
        </p:txBody>
      </p:sp>
    </p:spTree>
    <p:extLst>
      <p:ext uri="{BB962C8B-B14F-4D97-AF65-F5344CB8AC3E}">
        <p14:creationId xmlns:p14="http://schemas.microsoft.com/office/powerpoint/2010/main" val="2447478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Graph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0762-2658-BA91-BF54-8C5E01130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6655" y="494452"/>
            <a:ext cx="8595361" cy="542893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800" cap="all" spc="600" baseline="0">
                <a:solidFill>
                  <a:srgbClr val="25384A"/>
                </a:solidFill>
                <a:latin typeface="Gotham" panose="02000604030000020004" pitchFamily="2" charset="0"/>
              </a:defRPr>
            </a:lvl1pPr>
          </a:lstStyle>
          <a:p>
            <a:r>
              <a:rPr lang="en-GB" dirty="0"/>
              <a:t>Single Graph Slide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7429F4-9DF5-8042-BC0C-1B1126301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7514" y="0"/>
            <a:ext cx="3784485" cy="1207686"/>
          </a:xfrm>
          <a:prstGeom prst="rect">
            <a:avLst/>
          </a:prstGeom>
        </p:spPr>
      </p:pic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DEC32F78-ACB6-CA05-21BE-57DBC9D83B2A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676655" y="1378028"/>
            <a:ext cx="10852735" cy="47001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25384A"/>
                </a:solidFill>
                <a:latin typeface="Gotham" panose="02000604030000020004" pitchFamily="2" charset="0"/>
              </a:defRPr>
            </a:lvl1pPr>
          </a:lstStyle>
          <a:p>
            <a:r>
              <a:rPr lang="en-US" dirty="0"/>
              <a:t>Add chart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4246D-127F-51B1-7E36-33D8BF6560CD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8200" y="6507420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D5167-ADE8-BA92-9BA1-B02AEBB82E8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610600" y="6507420"/>
            <a:ext cx="2743200" cy="365125"/>
          </a:xfrm>
        </p:spPr>
        <p:txBody>
          <a:bodyPr/>
          <a:lstStyle/>
          <a:p>
            <a:fld id="{583DDE54-A93F-264A-8772-B0E2E830415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E0075F5-4600-54C4-DE27-B61C147284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305092" y="6507420"/>
            <a:ext cx="5581816" cy="365125"/>
          </a:xfrm>
        </p:spPr>
        <p:txBody>
          <a:bodyPr/>
          <a:lstStyle/>
          <a:p>
            <a:r>
              <a:rPr lang="en-US" dirty="0"/>
              <a:t>Anjan Dutta | Artificial Neural Networks | EEEM076 Applied Machine Learning (Online)</a:t>
            </a:r>
          </a:p>
        </p:txBody>
      </p:sp>
    </p:spTree>
    <p:extLst>
      <p:ext uri="{BB962C8B-B14F-4D97-AF65-F5344CB8AC3E}">
        <p14:creationId xmlns:p14="http://schemas.microsoft.com/office/powerpoint/2010/main" val="4056410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ex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0762-2658-BA91-BF54-8C5E01130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6655" y="494452"/>
            <a:ext cx="8595361" cy="55057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800" cap="all" spc="600" baseline="0">
                <a:solidFill>
                  <a:srgbClr val="25384A"/>
                </a:solidFill>
                <a:latin typeface="Gotham" panose="02000604030000020004" pitchFamily="2" charset="0"/>
              </a:defRPr>
            </a:lvl1pPr>
          </a:lstStyle>
          <a:p>
            <a:r>
              <a:rPr lang="en-GB" dirty="0"/>
              <a:t>Image &amp; Text Slide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7429F4-9DF5-8042-BC0C-1B1126301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407516" y="0"/>
            <a:ext cx="3784481" cy="1207686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6DD6E06-5250-16B9-ED59-FEA27A834A2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72862" y="1615049"/>
            <a:ext cx="5342482" cy="3980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25384A"/>
                </a:solidFill>
                <a:latin typeface="Gotham" panose="02000604030000020004" pitchFamily="2" charset="0"/>
              </a:defRPr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AA00B76-43CA-36C5-E67D-3B0C41245C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6655" y="3790151"/>
            <a:ext cx="5342481" cy="180510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500">
                <a:solidFill>
                  <a:srgbClr val="25384A"/>
                </a:solidFill>
                <a:latin typeface="Gotham" panose="02000604030000020004" pitchFamily="2" charset="0"/>
              </a:defRPr>
            </a:lvl1pPr>
            <a:lvl2pPr marL="457200" indent="0">
              <a:buFont typeface="Arial" panose="020B0604020202020204" pitchFamily="34" charset="0"/>
              <a:buNone/>
              <a:defRPr sz="1800">
                <a:solidFill>
                  <a:srgbClr val="25384A"/>
                </a:solidFill>
                <a:latin typeface="Gotham" panose="02000604030000020004" pitchFamily="2" charset="0"/>
              </a:defRPr>
            </a:lvl2pPr>
            <a:lvl3pPr marL="914400" indent="0">
              <a:buFont typeface="Arial" panose="020B0604020202020204" pitchFamily="34" charset="0"/>
              <a:buNone/>
              <a:defRPr sz="1600">
                <a:solidFill>
                  <a:srgbClr val="25384A"/>
                </a:solidFill>
                <a:latin typeface="Gotham" panose="02000604030000020004" pitchFamily="2" charset="0"/>
              </a:defRPr>
            </a:lvl3pPr>
            <a:lvl4pPr marL="1371600" indent="0">
              <a:buFont typeface="Arial" panose="020B0604020202020204" pitchFamily="34" charset="0"/>
              <a:buNone/>
              <a:defRPr sz="1500">
                <a:solidFill>
                  <a:srgbClr val="25384A"/>
                </a:solidFill>
                <a:latin typeface="Gotham" panose="02000604030000020004" pitchFamily="2" charset="0"/>
              </a:defRPr>
            </a:lvl4pPr>
            <a:lvl5pPr marL="1828800" indent="0">
              <a:buFont typeface="Arial" panose="020B0604020202020204" pitchFamily="34" charset="0"/>
              <a:buNone/>
              <a:defRPr sz="1400">
                <a:solidFill>
                  <a:srgbClr val="25384A"/>
                </a:solidFill>
                <a:latin typeface="Gotham" panose="02000604030000020004" pitchFamily="2" charset="0"/>
              </a:defRPr>
            </a:lvl5pPr>
          </a:lstStyle>
          <a:p>
            <a:pPr lvl="0"/>
            <a:r>
              <a:rPr lang="en-GB" dirty="0"/>
              <a:t>Add body copy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36C03B4-4029-8BD8-280F-FBE754F432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655" y="3189579"/>
            <a:ext cx="5342481" cy="393622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rgbClr val="25384A"/>
                </a:solidFill>
                <a:latin typeface="Gotham" panose="02000604030000020004" pitchFamily="2" charset="0"/>
              </a:defRPr>
            </a:lvl1pPr>
            <a:lvl2pPr marL="457200" indent="0">
              <a:buNone/>
              <a:defRPr sz="1600" b="1">
                <a:solidFill>
                  <a:srgbClr val="25384A"/>
                </a:solidFill>
                <a:latin typeface="Gotham" panose="02000604030000020004" pitchFamily="2" charset="0"/>
              </a:defRPr>
            </a:lvl2pPr>
            <a:lvl3pPr marL="914400" indent="0">
              <a:buNone/>
              <a:defRPr sz="1400" b="1">
                <a:solidFill>
                  <a:srgbClr val="25384A"/>
                </a:solidFill>
                <a:latin typeface="Gotham" panose="02000604030000020004" pitchFamily="2" charset="0"/>
              </a:defRPr>
            </a:lvl3pPr>
            <a:lvl4pPr marL="1371600" indent="0">
              <a:buNone/>
              <a:defRPr sz="1200" b="1">
                <a:solidFill>
                  <a:srgbClr val="25384A"/>
                </a:solidFill>
                <a:latin typeface="Gotham" panose="02000604030000020004" pitchFamily="2" charset="0"/>
              </a:defRPr>
            </a:lvl4pPr>
            <a:lvl5pPr marL="1828800" indent="0">
              <a:buNone/>
              <a:defRPr sz="1200" b="1">
                <a:solidFill>
                  <a:srgbClr val="25384A"/>
                </a:solidFill>
                <a:latin typeface="Gotham" panose="02000604030000020004" pitchFamily="2" charset="0"/>
              </a:defRPr>
            </a:lvl5pPr>
          </a:lstStyle>
          <a:p>
            <a:pPr lvl="0"/>
            <a:r>
              <a:rPr lang="en-GB" dirty="0"/>
              <a:t>Sub headline or lead para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68D267-A099-8F3B-2428-E6331A53B3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6655" y="1824192"/>
            <a:ext cx="5342481" cy="497173"/>
          </a:xfrm>
        </p:spPr>
        <p:txBody>
          <a:bodyPr>
            <a:normAutofit/>
          </a:bodyPr>
          <a:lstStyle>
            <a:lvl1pPr marL="0" indent="0">
              <a:buNone/>
              <a:defRPr sz="2800" cap="all" spc="600" baseline="0">
                <a:solidFill>
                  <a:srgbClr val="25384A"/>
                </a:solidFill>
                <a:latin typeface="Gotham" panose="02000604030000020004" pitchFamily="2" charset="0"/>
              </a:defRPr>
            </a:lvl1pPr>
            <a:lvl2pPr marL="457200" indent="0">
              <a:buNone/>
              <a:defRPr>
                <a:latin typeface="Gotham" panose="02000604030000020004" pitchFamily="2" charset="0"/>
              </a:defRPr>
            </a:lvl2pPr>
            <a:lvl3pPr marL="914400" indent="0">
              <a:buNone/>
              <a:defRPr>
                <a:latin typeface="Gotham" panose="02000604030000020004" pitchFamily="2" charset="0"/>
              </a:defRPr>
            </a:lvl3pPr>
            <a:lvl4pPr marL="1371600" indent="0">
              <a:buNone/>
              <a:defRPr>
                <a:latin typeface="Gotham" panose="02000604030000020004" pitchFamily="2" charset="0"/>
              </a:defRPr>
            </a:lvl4pPr>
            <a:lvl5pPr marL="1828800" indent="0">
              <a:buNone/>
              <a:defRPr>
                <a:latin typeface="Gotham" panose="02000604030000020004" pitchFamily="2" charset="0"/>
              </a:defRPr>
            </a:lvl5pPr>
          </a:lstStyle>
          <a:p>
            <a:pPr lvl="0"/>
            <a:r>
              <a:rPr lang="en-GB" dirty="0"/>
              <a:t>Headline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797D8A9-68F0-5AB4-FE04-0067A7F9B3F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6655" y="2354544"/>
            <a:ext cx="5342481" cy="542893"/>
          </a:xfrm>
        </p:spPr>
        <p:txBody>
          <a:bodyPr>
            <a:normAutofit/>
          </a:bodyPr>
          <a:lstStyle>
            <a:lvl1pPr marL="0" indent="0">
              <a:buNone/>
              <a:defRPr sz="2800" b="1" cap="all" spc="600" baseline="0">
                <a:solidFill>
                  <a:srgbClr val="25384A"/>
                </a:solidFill>
                <a:latin typeface="Gotham" panose="02000604030000020004" pitchFamily="2" charset="0"/>
              </a:defRPr>
            </a:lvl1pPr>
            <a:lvl2pPr marL="457200" indent="0">
              <a:buNone/>
              <a:defRPr>
                <a:latin typeface="Gotham" panose="02000604030000020004" pitchFamily="2" charset="0"/>
              </a:defRPr>
            </a:lvl2pPr>
            <a:lvl3pPr marL="914400" indent="0">
              <a:buNone/>
              <a:defRPr>
                <a:latin typeface="Gotham" panose="02000604030000020004" pitchFamily="2" charset="0"/>
              </a:defRPr>
            </a:lvl3pPr>
            <a:lvl4pPr marL="1371600" indent="0">
              <a:buNone/>
              <a:defRPr>
                <a:latin typeface="Gotham" panose="02000604030000020004" pitchFamily="2" charset="0"/>
              </a:defRPr>
            </a:lvl4pPr>
            <a:lvl5pPr marL="1828800" indent="0">
              <a:buNone/>
              <a:defRPr>
                <a:latin typeface="Gotham" panose="02000604030000020004" pitchFamily="2" charset="0"/>
              </a:defRPr>
            </a:lvl5pPr>
          </a:lstStyle>
          <a:p>
            <a:pPr lvl="0"/>
            <a:r>
              <a:rPr lang="en-GB" dirty="0"/>
              <a:t>Headline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50ACBAE-A426-3C66-F53C-C46A4A982904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507424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303342F-3661-B01D-B964-72620732927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507424"/>
            <a:ext cx="2743200" cy="365125"/>
          </a:xfrm>
        </p:spPr>
        <p:txBody>
          <a:bodyPr/>
          <a:lstStyle/>
          <a:p>
            <a:fld id="{583DDE54-A93F-264A-8772-B0E2E830415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72021A3-5D66-6F25-9BA9-97266CB26E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305092" y="6507424"/>
            <a:ext cx="5581816" cy="365125"/>
          </a:xfrm>
        </p:spPr>
        <p:txBody>
          <a:bodyPr/>
          <a:lstStyle/>
          <a:p>
            <a:r>
              <a:rPr lang="en-US" dirty="0"/>
              <a:t>Anjan Dutta | Artificial Neural Networks | EEEM076 Applied Machine Learning (Online)</a:t>
            </a:r>
          </a:p>
        </p:txBody>
      </p:sp>
    </p:spTree>
    <p:extLst>
      <p:ext uri="{BB962C8B-B14F-4D97-AF65-F5344CB8AC3E}">
        <p14:creationId xmlns:p14="http://schemas.microsoft.com/office/powerpoint/2010/main" val="295859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Image &amp; Tex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B0762-2658-BA91-BF54-8C5E01130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6655" y="494452"/>
            <a:ext cx="8595361" cy="55057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800" cap="all" spc="600" baseline="0">
                <a:solidFill>
                  <a:srgbClr val="25384A"/>
                </a:solidFill>
                <a:latin typeface="Gotham" panose="02000604030000020004" pitchFamily="2" charset="0"/>
              </a:defRPr>
            </a:lvl1pPr>
          </a:lstStyle>
          <a:p>
            <a:r>
              <a:rPr lang="en-GB" dirty="0"/>
              <a:t>Multi Image &amp; Text Slide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7429F4-9DF5-8042-BC0C-1B1126301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407516" y="0"/>
            <a:ext cx="3784481" cy="1207686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6DD6E06-5250-16B9-ED59-FEA27A834A2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35840" y="2024743"/>
            <a:ext cx="2351313" cy="182353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25384A"/>
                </a:solidFill>
                <a:latin typeface="Gotham" panose="02000604030000020004" pitchFamily="2" charset="0"/>
              </a:defRPr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AA00B76-43CA-36C5-E67D-3B0C41245C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02853" y="4694792"/>
            <a:ext cx="3017286" cy="1406560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500">
                <a:solidFill>
                  <a:srgbClr val="25384A"/>
                </a:solidFill>
                <a:latin typeface="Gotham" panose="02000604030000020004" pitchFamily="2" charset="0"/>
              </a:defRPr>
            </a:lvl1pPr>
            <a:lvl2pPr marL="457200" indent="0">
              <a:buFont typeface="Arial" panose="020B0604020202020204" pitchFamily="34" charset="0"/>
              <a:buNone/>
              <a:defRPr sz="1800">
                <a:solidFill>
                  <a:srgbClr val="25384A"/>
                </a:solidFill>
                <a:latin typeface="Gotham" panose="02000604030000020004" pitchFamily="2" charset="0"/>
              </a:defRPr>
            </a:lvl2pPr>
            <a:lvl3pPr marL="914400" indent="0">
              <a:buFont typeface="Arial" panose="020B0604020202020204" pitchFamily="34" charset="0"/>
              <a:buNone/>
              <a:defRPr sz="1600">
                <a:solidFill>
                  <a:srgbClr val="25384A"/>
                </a:solidFill>
                <a:latin typeface="Gotham" panose="02000604030000020004" pitchFamily="2" charset="0"/>
              </a:defRPr>
            </a:lvl3pPr>
            <a:lvl4pPr marL="1371600" indent="0">
              <a:buFont typeface="Arial" panose="020B0604020202020204" pitchFamily="34" charset="0"/>
              <a:buNone/>
              <a:defRPr sz="1500">
                <a:solidFill>
                  <a:srgbClr val="25384A"/>
                </a:solidFill>
                <a:latin typeface="Gotham" panose="02000604030000020004" pitchFamily="2" charset="0"/>
              </a:defRPr>
            </a:lvl4pPr>
            <a:lvl5pPr marL="1828800" indent="0">
              <a:buFont typeface="Arial" panose="020B0604020202020204" pitchFamily="34" charset="0"/>
              <a:buNone/>
              <a:defRPr sz="1400">
                <a:solidFill>
                  <a:srgbClr val="25384A"/>
                </a:solidFill>
                <a:latin typeface="Gotham" panose="02000604030000020004" pitchFamily="2" charset="0"/>
              </a:defRPr>
            </a:lvl5pPr>
          </a:lstStyle>
          <a:p>
            <a:pPr lvl="0"/>
            <a:r>
              <a:rPr lang="en-GB" dirty="0"/>
              <a:t>Add body copy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36C03B4-4029-8BD8-280F-FBE754F432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02853" y="3996244"/>
            <a:ext cx="3017286" cy="550577"/>
          </a:xfrm>
        </p:spPr>
        <p:txBody>
          <a:bodyPr>
            <a:noAutofit/>
          </a:bodyPr>
          <a:lstStyle>
            <a:lvl1pPr marL="0" indent="0" algn="ctr">
              <a:buNone/>
              <a:defRPr sz="1800" b="1">
                <a:solidFill>
                  <a:srgbClr val="25384A"/>
                </a:solidFill>
                <a:latin typeface="Gotham" panose="02000604030000020004" pitchFamily="2" charset="0"/>
              </a:defRPr>
            </a:lvl1pPr>
            <a:lvl2pPr marL="457200" indent="0">
              <a:buNone/>
              <a:defRPr sz="1600" b="1">
                <a:solidFill>
                  <a:srgbClr val="25384A"/>
                </a:solidFill>
                <a:latin typeface="Gotham" panose="02000604030000020004" pitchFamily="2" charset="0"/>
              </a:defRPr>
            </a:lvl2pPr>
            <a:lvl3pPr marL="914400" indent="0">
              <a:buNone/>
              <a:defRPr sz="1400" b="1">
                <a:solidFill>
                  <a:srgbClr val="25384A"/>
                </a:solidFill>
                <a:latin typeface="Gotham" panose="02000604030000020004" pitchFamily="2" charset="0"/>
              </a:defRPr>
            </a:lvl3pPr>
            <a:lvl4pPr marL="1371600" indent="0">
              <a:buNone/>
              <a:defRPr sz="1200" b="1">
                <a:solidFill>
                  <a:srgbClr val="25384A"/>
                </a:solidFill>
                <a:latin typeface="Gotham" panose="02000604030000020004" pitchFamily="2" charset="0"/>
              </a:defRPr>
            </a:lvl4pPr>
            <a:lvl5pPr marL="1828800" indent="0">
              <a:buNone/>
              <a:defRPr sz="1200" b="1">
                <a:solidFill>
                  <a:srgbClr val="25384A"/>
                </a:solidFill>
                <a:latin typeface="Gotham" panose="02000604030000020004" pitchFamily="2" charset="0"/>
              </a:defRPr>
            </a:lvl5pPr>
          </a:lstStyle>
          <a:p>
            <a:pPr lvl="0"/>
            <a:r>
              <a:rPr lang="en-GB" dirty="0"/>
              <a:t>Sub headline or lead para</a:t>
            </a:r>
            <a:endParaRPr lang="en-US" dirty="0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15866723-0A56-97AA-F037-1A94896400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836983" y="2024743"/>
            <a:ext cx="2351313" cy="182353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25384A"/>
                </a:solidFill>
                <a:latin typeface="Gotham" panose="02000604030000020004" pitchFamily="2" charset="0"/>
              </a:defRPr>
            </a:lvl1pPr>
          </a:lstStyle>
          <a:p>
            <a:r>
              <a:rPr lang="en-US" dirty="0"/>
              <a:t>Add Image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9F8498B-8676-F875-5778-A2879ED906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03996" y="4694792"/>
            <a:ext cx="3017286" cy="1406560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500">
                <a:solidFill>
                  <a:srgbClr val="25384A"/>
                </a:solidFill>
                <a:latin typeface="Gotham" panose="02000604030000020004" pitchFamily="2" charset="0"/>
              </a:defRPr>
            </a:lvl1pPr>
            <a:lvl2pPr marL="457200" indent="0">
              <a:buFont typeface="Arial" panose="020B0604020202020204" pitchFamily="34" charset="0"/>
              <a:buNone/>
              <a:defRPr sz="1800">
                <a:solidFill>
                  <a:srgbClr val="25384A"/>
                </a:solidFill>
                <a:latin typeface="Gotham" panose="02000604030000020004" pitchFamily="2" charset="0"/>
              </a:defRPr>
            </a:lvl2pPr>
            <a:lvl3pPr marL="914400" indent="0">
              <a:buFont typeface="Arial" panose="020B0604020202020204" pitchFamily="34" charset="0"/>
              <a:buNone/>
              <a:defRPr sz="1600">
                <a:solidFill>
                  <a:srgbClr val="25384A"/>
                </a:solidFill>
                <a:latin typeface="Gotham" panose="02000604030000020004" pitchFamily="2" charset="0"/>
              </a:defRPr>
            </a:lvl3pPr>
            <a:lvl4pPr marL="1371600" indent="0">
              <a:buFont typeface="Arial" panose="020B0604020202020204" pitchFamily="34" charset="0"/>
              <a:buNone/>
              <a:defRPr sz="1500">
                <a:solidFill>
                  <a:srgbClr val="25384A"/>
                </a:solidFill>
                <a:latin typeface="Gotham" panose="02000604030000020004" pitchFamily="2" charset="0"/>
              </a:defRPr>
            </a:lvl4pPr>
            <a:lvl5pPr marL="1828800" indent="0">
              <a:buFont typeface="Arial" panose="020B0604020202020204" pitchFamily="34" charset="0"/>
              <a:buNone/>
              <a:defRPr sz="1400">
                <a:solidFill>
                  <a:srgbClr val="25384A"/>
                </a:solidFill>
                <a:latin typeface="Gotham" panose="02000604030000020004" pitchFamily="2" charset="0"/>
              </a:defRPr>
            </a:lvl5pPr>
          </a:lstStyle>
          <a:p>
            <a:pPr lvl="0"/>
            <a:r>
              <a:rPr lang="en-GB" dirty="0"/>
              <a:t>Add body copy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AF8B233-6FC3-778E-C486-D8B9E611A3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996" y="3996244"/>
            <a:ext cx="3017286" cy="550577"/>
          </a:xfrm>
        </p:spPr>
        <p:txBody>
          <a:bodyPr>
            <a:noAutofit/>
          </a:bodyPr>
          <a:lstStyle>
            <a:lvl1pPr marL="0" indent="0" algn="ctr">
              <a:buNone/>
              <a:defRPr sz="1800" b="1">
                <a:solidFill>
                  <a:srgbClr val="25384A"/>
                </a:solidFill>
                <a:latin typeface="Gotham" panose="02000604030000020004" pitchFamily="2" charset="0"/>
              </a:defRPr>
            </a:lvl1pPr>
            <a:lvl2pPr marL="457200" indent="0">
              <a:buNone/>
              <a:defRPr sz="1600" b="1">
                <a:solidFill>
                  <a:srgbClr val="25384A"/>
                </a:solidFill>
                <a:latin typeface="Gotham" panose="02000604030000020004" pitchFamily="2" charset="0"/>
              </a:defRPr>
            </a:lvl2pPr>
            <a:lvl3pPr marL="914400" indent="0">
              <a:buNone/>
              <a:defRPr sz="1400" b="1">
                <a:solidFill>
                  <a:srgbClr val="25384A"/>
                </a:solidFill>
                <a:latin typeface="Gotham" panose="02000604030000020004" pitchFamily="2" charset="0"/>
              </a:defRPr>
            </a:lvl3pPr>
            <a:lvl4pPr marL="1371600" indent="0">
              <a:buNone/>
              <a:defRPr sz="1200" b="1">
                <a:solidFill>
                  <a:srgbClr val="25384A"/>
                </a:solidFill>
                <a:latin typeface="Gotham" panose="02000604030000020004" pitchFamily="2" charset="0"/>
              </a:defRPr>
            </a:lvl4pPr>
            <a:lvl5pPr marL="1828800" indent="0">
              <a:buNone/>
              <a:defRPr sz="1200" b="1">
                <a:solidFill>
                  <a:srgbClr val="25384A"/>
                </a:solidFill>
                <a:latin typeface="Gotham" panose="02000604030000020004" pitchFamily="2" charset="0"/>
              </a:defRPr>
            </a:lvl5pPr>
          </a:lstStyle>
          <a:p>
            <a:pPr lvl="0"/>
            <a:r>
              <a:rPr lang="en-GB" dirty="0"/>
              <a:t>Sub headline or lead para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D7262C5-33FF-E40D-3228-2E6BACD56547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838200" y="6507424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04FC15B-DB70-6EC6-BB15-BFADCD1605B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8610600" y="6507424"/>
            <a:ext cx="2743200" cy="365125"/>
          </a:xfrm>
        </p:spPr>
        <p:txBody>
          <a:bodyPr/>
          <a:lstStyle/>
          <a:p>
            <a:fld id="{583DDE54-A93F-264A-8772-B0E2E830415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86FF362-3481-7966-CB79-38E83A835F5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305092" y="6507424"/>
            <a:ext cx="5581816" cy="365125"/>
          </a:xfrm>
        </p:spPr>
        <p:txBody>
          <a:bodyPr/>
          <a:lstStyle/>
          <a:p>
            <a:r>
              <a:rPr lang="en-US" dirty="0"/>
              <a:t>Anjan Dutta | Artificial Neural Networks | EEEM076 Applied Machine Learning (Online)</a:t>
            </a:r>
          </a:p>
        </p:txBody>
      </p:sp>
    </p:spTree>
    <p:extLst>
      <p:ext uri="{BB962C8B-B14F-4D97-AF65-F5344CB8AC3E}">
        <p14:creationId xmlns:p14="http://schemas.microsoft.com/office/powerpoint/2010/main" val="368413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683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FBD7CB-CF14-6807-7E0A-BD6B9815B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33AFE-BB0F-49EF-F4A5-D5E0B9B44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62E41-8DE3-D9E7-CBEC-460080CB1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9B890-97DE-96F2-3F4B-0FD876CE2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Gotham" panose="02000604030000020004"/>
              </a:defRPr>
            </a:lvl1pPr>
          </a:lstStyle>
          <a:p>
            <a:r>
              <a:rPr lang="en-US"/>
              <a:t>Anjan Dutta | Artificial Neural Networks | EEEM076 Applied Machine Learning (Online)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6141F-0588-0901-B2E7-E7DE5E978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otham" panose="02000604030000020004"/>
              </a:defRPr>
            </a:lvl1pPr>
          </a:lstStyle>
          <a:p>
            <a:fld id="{583DDE54-A93F-264A-8772-B0E2E830415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040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64" r:id="rId2"/>
    <p:sldLayoutId id="2147483665" r:id="rId3"/>
    <p:sldLayoutId id="2147483682" r:id="rId4"/>
    <p:sldLayoutId id="2147483683" r:id="rId5"/>
    <p:sldLayoutId id="2147483666" r:id="rId6"/>
    <p:sldLayoutId id="2147483670" r:id="rId7"/>
    <p:sldLayoutId id="2147483674" r:id="rId8"/>
    <p:sldLayoutId id="2147483676" r:id="rId9"/>
    <p:sldLayoutId id="2147483695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EFA6E-BCC0-7715-FFC7-5E290A8D3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646" y="472142"/>
            <a:ext cx="8315869" cy="795286"/>
          </a:xfrm>
        </p:spPr>
        <p:txBody>
          <a:bodyPr anchor="ctr"/>
          <a:lstStyle/>
          <a:p>
            <a:pPr algn="l"/>
            <a:r>
              <a:rPr lang="en-GB" sz="2000" dirty="0">
                <a:latin typeface="Times New Roman"/>
                <a:cs typeface="Times New Roman"/>
              </a:rPr>
              <a:t>Eeem068 applied machine </a:t>
            </a:r>
            <a:r>
              <a:rPr lang="en-GB" sz="2000" dirty="0" err="1">
                <a:latin typeface="Times New Roman"/>
                <a:cs typeface="Times New Roman"/>
              </a:rPr>
              <a:t>learninG</a:t>
            </a:r>
            <a:br>
              <a:rPr lang="en-GB" sz="2000" dirty="0">
                <a:latin typeface="Times New Roman"/>
                <a:cs typeface="Times New Roman"/>
              </a:rPr>
            </a:br>
            <a:r>
              <a:rPr lang="en-GB" sz="2000" dirty="0">
                <a:latin typeface="Gotham"/>
                <a:cs typeface="Times New Roman"/>
              </a:rPr>
              <a:t> 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9419C-BD6D-1122-8FE8-DA4324D06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852" y="1714602"/>
            <a:ext cx="7879923" cy="1140177"/>
          </a:xfrm>
        </p:spPr>
        <p:txBody>
          <a:bodyPr anchor="ctr"/>
          <a:lstStyle/>
          <a:p>
            <a:pPr lvl="1" algn="l"/>
            <a:r>
              <a:rPr lang="en-US" sz="2800" b="1" spc="300" dirty="0">
                <a:solidFill>
                  <a:srgbClr val="FEFFFE"/>
                </a:solidFill>
                <a:latin typeface="Times New Roman"/>
                <a:cs typeface="Times New Roman"/>
              </a:rPr>
              <a:t>Training Vision Transformers for Knee </a:t>
            </a:r>
            <a:r>
              <a:rPr lang="en-US" sz="2800" b="1" spc="300">
                <a:solidFill>
                  <a:srgbClr val="FEFFFE"/>
                </a:solidFill>
                <a:latin typeface="Times New Roman"/>
                <a:cs typeface="Times New Roman"/>
              </a:rPr>
              <a:t>Abnormality Classification</a:t>
            </a:r>
            <a:endParaRPr lang="en-GB" sz="2800" b="1" cap="none" spc="300">
              <a:solidFill>
                <a:srgbClr val="FEFFFE"/>
              </a:solidFill>
              <a:latin typeface="Times New Roman"/>
              <a:cs typeface="Times New Roman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7BAFD-C491-2A8E-459D-E7273F9D5A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0646" y="4197196"/>
            <a:ext cx="5494013" cy="13917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 sz="1800" cap="none">
                <a:latin typeface="Times New Roman"/>
                <a:cs typeface="Times New Roman"/>
              </a:rPr>
              <a:t>Group Id: 07</a:t>
            </a:r>
          </a:p>
          <a:p>
            <a:pPr algn="l"/>
            <a:r>
              <a:rPr lang="en-GB" sz="1800" cap="none" dirty="0">
                <a:latin typeface="Times New Roman"/>
                <a:cs typeface="Times New Roman"/>
              </a:rPr>
              <a:t>Group representative: Poovarasan </a:t>
            </a:r>
            <a:r>
              <a:rPr lang="en-GB" sz="1800" cap="none" dirty="0" err="1">
                <a:latin typeface="Times New Roman"/>
                <a:cs typeface="Times New Roman"/>
              </a:rPr>
              <a:t>Pariselvam</a:t>
            </a:r>
            <a:endParaRPr lang="en-GB" sz="1800" cap="none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5519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AB85C-D4FD-491C-927C-C48F9A7B7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Times New Roman"/>
                <a:cs typeface="Times New Roman"/>
              </a:rPr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E568-83F4-48A8-8A34-E1EE5519CB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655" y="1274010"/>
            <a:ext cx="10852736" cy="45618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79705" indent="-179705"/>
            <a:r>
              <a:rPr lang="en-GB" sz="1800">
                <a:latin typeface="Times New Roman"/>
                <a:cs typeface="Times New Roman"/>
              </a:rPr>
              <a:t>Kishore </a:t>
            </a:r>
            <a:r>
              <a:rPr lang="en-GB" sz="1800" err="1">
                <a:latin typeface="Times New Roman"/>
                <a:cs typeface="Times New Roman"/>
              </a:rPr>
              <a:t>Damodharan</a:t>
            </a:r>
            <a:endParaRPr lang="en-GB" sz="1800">
              <a:latin typeface="Times New Roman"/>
              <a:cs typeface="Times New Roman"/>
            </a:endParaRPr>
          </a:p>
          <a:p>
            <a:pPr marL="179705" indent="-179705"/>
            <a:r>
              <a:rPr lang="en-GB" sz="1800">
                <a:latin typeface="Times New Roman"/>
                <a:cs typeface="Times New Roman"/>
              </a:rPr>
              <a:t>Deepakraj Rajmohan</a:t>
            </a:r>
          </a:p>
          <a:p>
            <a:pPr marL="179705" indent="-179705"/>
            <a:r>
              <a:rPr lang="en-GB" sz="1800" err="1">
                <a:latin typeface="Times New Roman"/>
                <a:cs typeface="Times New Roman"/>
              </a:rPr>
              <a:t>Sriraaj</a:t>
            </a:r>
            <a:r>
              <a:rPr lang="en-GB" sz="1800">
                <a:latin typeface="Times New Roman"/>
                <a:cs typeface="Times New Roman"/>
              </a:rPr>
              <a:t> Anandh</a:t>
            </a:r>
          </a:p>
          <a:p>
            <a:pPr marL="179705" indent="-179705"/>
            <a:r>
              <a:rPr lang="en-GB" sz="1800" err="1">
                <a:latin typeface="Times New Roman"/>
                <a:cs typeface="Times New Roman"/>
              </a:rPr>
              <a:t>Rohidh</a:t>
            </a:r>
            <a:r>
              <a:rPr lang="en-GB" sz="1800">
                <a:latin typeface="Times New Roman"/>
                <a:cs typeface="Times New Roman"/>
              </a:rPr>
              <a:t> Govindan Choodamani</a:t>
            </a:r>
          </a:p>
          <a:p>
            <a:pPr marL="179705" indent="-179705"/>
            <a:r>
              <a:rPr lang="en-GB" sz="1800">
                <a:latin typeface="Times New Roman"/>
                <a:cs typeface="Times New Roman"/>
              </a:rPr>
              <a:t>Poovarasan </a:t>
            </a:r>
            <a:r>
              <a:rPr lang="en-GB" sz="1800" err="1">
                <a:latin typeface="Times New Roman"/>
                <a:cs typeface="Times New Roman"/>
              </a:rPr>
              <a:t>Pariselvam</a:t>
            </a:r>
            <a:endParaRPr lang="en-GB" sz="1800">
              <a:latin typeface="Times New Roman"/>
              <a:cs typeface="Times New Roman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88EF7F-9789-CFEF-4AFA-F9CC98980F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581401" y="6512448"/>
            <a:ext cx="5026108" cy="365125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Group 07 | EEEM068 Applied Machine Learning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34507D-0865-5990-447A-A1D4BF1CB0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83DDE54-A93F-264A-8772-B0E2E830415F}" type="slidenum">
              <a:rPr lang="en-US" smtClean="0">
                <a:latin typeface="Times New Roman"/>
                <a:cs typeface="Times New Roman"/>
              </a:rPr>
              <a:t>2</a:t>
            </a:fld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2203D-2080-AE38-2FB1-775E2112D143}"/>
              </a:ext>
            </a:extLst>
          </p:cNvPr>
          <p:cNvSpPr txBox="1"/>
          <p:nvPr/>
        </p:nvSpPr>
        <p:spPr>
          <a:xfrm>
            <a:off x="676655" y="337027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cap="all" spc="600" dirty="0">
                <a:solidFill>
                  <a:srgbClr val="25384A"/>
                </a:solidFill>
                <a:latin typeface="Times New Roman"/>
                <a:ea typeface="+mj-ea"/>
                <a:cs typeface="Times New Roman"/>
              </a:rPr>
              <a:t>Teaching</a:t>
            </a:r>
            <a:r>
              <a:rPr lang="en-GB" dirty="0">
                <a:latin typeface="Times New Roman"/>
                <a:cs typeface="Times New Roman"/>
              </a:rPr>
              <a:t> </a:t>
            </a:r>
            <a:r>
              <a:rPr lang="en-GB" sz="2800" cap="all" spc="600" dirty="0">
                <a:solidFill>
                  <a:srgbClr val="25384A"/>
                </a:solidFill>
                <a:latin typeface="Times New Roman"/>
                <a:ea typeface="+mj-ea"/>
                <a:cs typeface="Times New Roman"/>
              </a:rPr>
              <a:t>Assistant</a:t>
            </a:r>
            <a:endParaRPr lang="en-IN" sz="2800" cap="all" spc="600" dirty="0">
              <a:solidFill>
                <a:srgbClr val="25384A"/>
              </a:solidFill>
              <a:latin typeface="Times New Roman"/>
              <a:ea typeface="+mj-ea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B5546E-0236-73B9-7176-5DC0D3545B21}"/>
              </a:ext>
            </a:extLst>
          </p:cNvPr>
          <p:cNvSpPr txBox="1"/>
          <p:nvPr/>
        </p:nvSpPr>
        <p:spPr>
          <a:xfrm>
            <a:off x="676655" y="412248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Times New Roman"/>
                <a:cs typeface="Times New Roman"/>
              </a:rPr>
              <a:t>Sadegh </a:t>
            </a:r>
            <a:r>
              <a:rPr lang="en-GB" sz="1800" dirty="0" err="1">
                <a:latin typeface="Times New Roman"/>
                <a:cs typeface="Times New Roman"/>
              </a:rPr>
              <a:t>Rahmaniboldaji</a:t>
            </a:r>
            <a:endParaRPr lang="en-GB" sz="1800" dirty="0">
              <a:latin typeface="Times New Roman"/>
              <a:cs typeface="Times New Roman"/>
            </a:endParaRPr>
          </a:p>
          <a:p>
            <a:r>
              <a:rPr lang="en-GB" dirty="0">
                <a:latin typeface="Times New Roman"/>
                <a:cs typeface="Times New Roman"/>
              </a:rPr>
              <a:t>(s.rahmani@surrey.ac.uk)</a:t>
            </a:r>
            <a:endParaRPr lang="en-IN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806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7047C-28BC-F880-AE4D-74A059B91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170F5C-2724-B98B-C248-E489F09DE36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581401" y="6512448"/>
            <a:ext cx="5026108" cy="365125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Group 07 | EEEM068 Applied Machine Learning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247693C-3FBE-79F8-522C-681A9C9D157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83DDE54-A93F-264A-8772-B0E2E830415F}" type="slidenum">
              <a:rPr lang="en-US" smtClean="0">
                <a:latin typeface="Times New Roman"/>
                <a:cs typeface="Times New Roman"/>
              </a:rPr>
              <a:t>3</a:t>
            </a:fld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BE837F-3DF7-822E-F2B8-C41ACFB636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179705" indent="-179705"/>
            <a:r>
              <a:rPr lang="en-US" b="1">
                <a:latin typeface="Times New Roman"/>
                <a:cs typeface="Times New Roman"/>
              </a:rPr>
              <a:t>The Clinical Reality</a:t>
            </a:r>
            <a:endParaRPr lang="en-US">
              <a:latin typeface="Times New Roman"/>
              <a:cs typeface="Times New Roman"/>
            </a:endParaRPr>
          </a:p>
          <a:p>
            <a:pPr marL="179705" indent="-179705"/>
            <a:r>
              <a:rPr lang="en-US">
                <a:latin typeface="Times New Roman"/>
                <a:cs typeface="Times New Roman"/>
              </a:rPr>
              <a:t>High prevalence of complex, co-occurring knee pathologies (e.g., </a:t>
            </a:r>
            <a:r>
              <a:rPr lang="en-US" dirty="0">
                <a:latin typeface="Times New Roman"/>
                <a:cs typeface="Times New Roman"/>
              </a:rPr>
              <a:t>ACL </a:t>
            </a:r>
            <a:r>
              <a:rPr lang="en-US">
                <a:latin typeface="Times New Roman"/>
                <a:cs typeface="Times New Roman"/>
              </a:rPr>
              <a:t>and meniscal </a:t>
            </a:r>
            <a:r>
              <a:rPr lang="en-US" dirty="0">
                <a:latin typeface="Times New Roman"/>
                <a:cs typeface="Times New Roman"/>
              </a:rPr>
              <a:t>tears</a:t>
            </a:r>
            <a:r>
              <a:rPr lang="en-US">
                <a:latin typeface="Times New Roman"/>
                <a:cs typeface="Times New Roman"/>
              </a:rPr>
              <a:t>).</a:t>
            </a:r>
          </a:p>
          <a:p>
            <a:pPr marL="179705" indent="-179705"/>
            <a:r>
              <a:rPr lang="en-US">
                <a:latin typeface="Times New Roman"/>
                <a:cs typeface="Times New Roman"/>
              </a:rPr>
              <a:t>Accurate and timely diagnosis is critical for optimal patient recovery outcomes.</a:t>
            </a:r>
          </a:p>
          <a:p>
            <a:pPr marL="179705" indent="-179705"/>
            <a:endParaRPr lang="en-US">
              <a:latin typeface="Times New Roman"/>
              <a:cs typeface="Times New Roman"/>
            </a:endParaRPr>
          </a:p>
          <a:p>
            <a:pPr marL="179705" indent="-179705"/>
            <a:r>
              <a:rPr lang="en-US" b="1">
                <a:latin typeface="Times New Roman"/>
                <a:cs typeface="Times New Roman"/>
              </a:rPr>
              <a:t>The Diagnostic Bottleneck</a:t>
            </a:r>
            <a:endParaRPr lang="en-US">
              <a:latin typeface="Times New Roman"/>
              <a:cs typeface="Times New Roman"/>
            </a:endParaRPr>
          </a:p>
          <a:p>
            <a:pPr marL="179705" indent="-179705"/>
            <a:r>
              <a:rPr lang="en-US">
                <a:latin typeface="Times New Roman"/>
                <a:cs typeface="Times New Roman"/>
              </a:rPr>
              <a:t>While 3D Volumetric </a:t>
            </a:r>
            <a:r>
              <a:rPr lang="en-US" dirty="0">
                <a:latin typeface="Times New Roman"/>
                <a:cs typeface="Times New Roman"/>
              </a:rPr>
              <a:t>MRI is </a:t>
            </a:r>
            <a:r>
              <a:rPr lang="en-US">
                <a:latin typeface="Times New Roman"/>
                <a:cs typeface="Times New Roman"/>
              </a:rPr>
              <a:t>the gold standard, manual interpretation is heavily constrained:</a:t>
            </a:r>
          </a:p>
          <a:p>
            <a:pPr marL="503555" lvl="1" indent="-179705"/>
            <a:r>
              <a:rPr lang="en-US" sz="2000" b="1">
                <a:latin typeface="Times New Roman"/>
                <a:cs typeface="Times New Roman"/>
              </a:rPr>
              <a:t>Time-Intensive:</a:t>
            </a:r>
            <a:r>
              <a:rPr lang="en-US" sz="2000">
                <a:latin typeface="Times New Roman"/>
                <a:cs typeface="Times New Roman"/>
              </a:rPr>
              <a:t> High cognitive load for slice-by-slice analysis.</a:t>
            </a:r>
            <a:endParaRPr lang="en-US">
              <a:latin typeface="Times New Roman"/>
              <a:cs typeface="Times New Roman"/>
            </a:endParaRPr>
          </a:p>
          <a:p>
            <a:pPr marL="503555" lvl="1" indent="-179705"/>
            <a:r>
              <a:rPr lang="en-US" sz="2000" b="1">
                <a:latin typeface="Times New Roman"/>
                <a:cs typeface="Times New Roman"/>
              </a:rPr>
              <a:t>Resource-Dependent:</a:t>
            </a:r>
            <a:r>
              <a:rPr lang="en-US" sz="2000">
                <a:latin typeface="Times New Roman"/>
                <a:cs typeface="Times New Roman"/>
              </a:rPr>
              <a:t> Reliant on the limited availability of expert radiologists.</a:t>
            </a:r>
            <a:endParaRPr lang="en-US">
              <a:latin typeface="Times New Roman"/>
              <a:cs typeface="Times New Roman"/>
            </a:endParaRPr>
          </a:p>
          <a:p>
            <a:pPr marL="503555" lvl="1" indent="-179705"/>
            <a:r>
              <a:rPr lang="en-US" sz="2000" b="1">
                <a:latin typeface="Times New Roman"/>
                <a:cs typeface="Times New Roman"/>
              </a:rPr>
              <a:t>The AI Imperative</a:t>
            </a:r>
            <a:endParaRPr lang="en-US">
              <a:latin typeface="Times New Roman"/>
              <a:cs typeface="Times New Roman"/>
            </a:endParaRPr>
          </a:p>
          <a:p>
            <a:pPr marL="323850" lvl="1" indent="0">
              <a:buNone/>
            </a:pPr>
            <a:endParaRPr lang="en-US" b="1">
              <a:latin typeface="Times New Roman"/>
              <a:cs typeface="Times New Roman"/>
            </a:endParaRPr>
          </a:p>
          <a:p>
            <a:pPr marL="179705" indent="-179705"/>
            <a:r>
              <a:rPr lang="en-US" b="1">
                <a:latin typeface="Times New Roman"/>
                <a:cs typeface="Times New Roman"/>
              </a:rPr>
              <a:t>The Goal:</a:t>
            </a:r>
            <a:r>
              <a:rPr lang="en-US">
                <a:latin typeface="Times New Roman"/>
                <a:cs typeface="Times New Roman"/>
              </a:rPr>
              <a:t> Develop an automated, deep-learning-assisted diagnostic pipeline.</a:t>
            </a:r>
          </a:p>
          <a:p>
            <a:pPr marL="179705" indent="-179705"/>
            <a:r>
              <a:rPr lang="en-US" b="1">
                <a:latin typeface="Times New Roman"/>
                <a:cs typeface="Times New Roman"/>
              </a:rPr>
              <a:t>The Impact:</a:t>
            </a:r>
            <a:r>
              <a:rPr lang="en-US">
                <a:latin typeface="Times New Roman"/>
                <a:cs typeface="Times New Roman"/>
              </a:rPr>
              <a:t> Triage routine cases, reduce diagnostic latency, and augment clinical decision-making at scale.</a:t>
            </a:r>
          </a:p>
          <a:p>
            <a:pPr marL="179705" indent="-179705"/>
            <a:endParaRPr lang="en-US">
              <a:latin typeface="Times New Roman"/>
              <a:cs typeface="Times New Roman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50A5C88-C1BE-E715-BEA9-0492FB3CF6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021143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E2B83-19B8-60AB-752F-3E412024A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725D6A7-5498-7D6A-0C78-A797FBE5B66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581401" y="6512448"/>
            <a:ext cx="5026108" cy="365125"/>
          </a:xfrm>
        </p:spPr>
        <p:txBody>
          <a:bodyPr/>
          <a:lstStyle/>
          <a:p>
            <a:r>
              <a:rPr lang="en-US"/>
              <a:t>Group 07 | EEEM068 Applied Machine Learning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5F65FA-5702-E24E-A672-D0DD4AF86C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83DDE54-A93F-264A-8772-B0E2E830415F}" type="slidenum">
              <a:rPr lang="en-US" smtClean="0"/>
              <a:t>4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7E83CF-D9F2-2BB3-5146-2D8130F6AD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Provenance &amp; Scale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Clinical MRI dataset collected at Stanford University Medical Center.</a:t>
            </a: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Volume: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1,370 comprehensive examinations (1,130 Training / 120 Validation).</a:t>
            </a:r>
          </a:p>
          <a:p>
            <a:pPr marL="503555" lvl="1" indent="-179705">
              <a:buFont typeface="Courier New" panose="020B0604020202020204" pitchFamily="34" charset="0"/>
              <a:buChar char="o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The Dimensionality Problem (Input Data)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Format: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3D Volumetric .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npy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arrays.</a:t>
            </a: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Spatial Resolution: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High-fidelity 256 x 256 pixel slices.</a:t>
            </a: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Highly variable depth (20 to 50 slices per scan), requiring specialized 2D-to-3D aggregation strategies rather than standard batching.</a:t>
            </a:r>
          </a:p>
          <a:p>
            <a:pPr marL="503555" lvl="1" indent="-179705">
              <a:buFont typeface="Courier New" panose="020B0604020202020204" pitchFamily="34" charset="0"/>
              <a:buChar char="o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The Multi-Label Complexity (Target Variables)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Conditions: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Abnormal (80.6%), Meniscal Tear (37.1%), and ACL Tear (23.3%).</a:t>
            </a: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These conditions are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mutually exclusive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. A single patient may present multiple co-occurring pathologies, necessitating three independent binary classification objectives rather than a standard single-label multi-class approach.</a:t>
            </a:r>
          </a:p>
          <a:p>
            <a:pPr marL="179705" indent="-179705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EB9FC32-5ABD-5863-14AB-15962C33E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655" y="494452"/>
            <a:ext cx="9308199" cy="550577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Architecture: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</a:t>
            </a:r>
          </a:p>
        </p:txBody>
      </p:sp>
    </p:spTree>
    <p:extLst>
      <p:ext uri="{BB962C8B-B14F-4D97-AF65-F5344CB8AC3E}">
        <p14:creationId xmlns:p14="http://schemas.microsoft.com/office/powerpoint/2010/main" val="464758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65E88-B66D-809D-7F13-D4E96574D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8794757-F8AD-D391-C9DF-816BCDD54F7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581401" y="6512448"/>
            <a:ext cx="5026108" cy="365125"/>
          </a:xfrm>
        </p:spPr>
        <p:txBody>
          <a:bodyPr/>
          <a:lstStyle/>
          <a:p>
            <a:r>
              <a:rPr lang="en-US"/>
              <a:t>Group 07 | EEEM068 Applied Machine Learning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F1A37F-13E0-7781-2530-8C2A1DC9159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83DDE54-A93F-264A-8772-B0E2E830415F}" type="slidenum">
              <a:rPr lang="en-US" smtClean="0"/>
              <a:t>5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CFD828-7D95-4A98-366A-D9BBC8FF2E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179705" indent="-179705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1. Data Adaptation (3D to 2D)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Unroll variable-depth MRI volumes into sequential 2D slices.</a:t>
            </a: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Prep: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Resize to 224 x 224 and duplicate to 3-channel RGB for transfer learning.</a:t>
            </a:r>
          </a:p>
          <a:p>
            <a:pPr marL="179705" indent="-179705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2. Spatial Extraction (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-Small)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Pass each slice independently through a pre-trained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-S/16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backbone.</a:t>
            </a: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Extract [CLS] token embeddings to capture localized, complex anomalies (e.g., tears).</a:t>
            </a:r>
          </a:p>
          <a:p>
            <a:pPr marL="179705" indent="-179705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3. Volumetric Aggregation (2D to 3D)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Apply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Global Max Pooling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across the slice dimension.</a:t>
            </a: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Compresses the variable sequence of slice features into a single, unified patient-level vector.</a:t>
            </a:r>
          </a:p>
          <a:p>
            <a:pPr marL="179705" indent="-179705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4. Multi-Label Classification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Pass the unified vector through a 3-node linear classifier.</a:t>
            </a:r>
          </a:p>
          <a:p>
            <a:pPr marL="503555" lvl="1" indent="-179705">
              <a:buFont typeface="Courier New" panose="020B0604020202020204" pitchFamily="34" charset="0"/>
              <a:buChar char="o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Binary Cross-Entropy (BCE) Loss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correctly model co-occurring conditions independently.</a:t>
            </a:r>
          </a:p>
          <a:p>
            <a:pPr marL="179705" indent="-179705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67C754E-5DCC-9514-A30C-D55B57DFB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2929973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DFA17-85F7-CD93-6D2D-655FB7095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738E1BF-AB6D-4725-1564-E175DAF7C84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581401" y="6512448"/>
            <a:ext cx="5026108" cy="365125"/>
          </a:xfrm>
        </p:spPr>
        <p:txBody>
          <a:bodyPr/>
          <a:lstStyle/>
          <a:p>
            <a:r>
              <a:rPr lang="en-US"/>
              <a:t>Group 07 | EEEM068 Applied Machine Learning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9D6429-8E0B-B35C-4448-B483AEE958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83DDE54-A93F-264A-8772-B0E2E830415F}" type="slidenum">
              <a:rPr lang="en-US" smtClean="0"/>
              <a:t>6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25A569D-A7A3-8FF3-4B33-56980DF4CD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0A0F3B-46BB-BCCF-8784-47A162DB7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237" y="1048774"/>
            <a:ext cx="2305073" cy="531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47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BAE84-8476-3339-0C8B-958ECD47A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47F1A61-7847-3C57-11D9-D03238A800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581401" y="6512448"/>
            <a:ext cx="5026108" cy="365125"/>
          </a:xfrm>
        </p:spPr>
        <p:txBody>
          <a:bodyPr/>
          <a:lstStyle/>
          <a:p>
            <a:r>
              <a:rPr lang="en-US"/>
              <a:t>Group 07 | EEEM068 Applied Machine Learning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A7D98EA-7D25-F084-CD56-EDFA9BB6BDA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83DDE54-A93F-264A-8772-B0E2E830415F}" type="slidenum">
              <a:rPr lang="en-US" smtClean="0"/>
              <a:t>7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E69FFFA-991D-D03C-881A-28068011A6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EFB869-5711-0750-77F4-C96E1B555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792" y="1188064"/>
            <a:ext cx="5024417" cy="532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091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E92A7-7570-9C7F-2CC6-7DD08426A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273CDFB-7DA2-4A42-B164-86B2499A1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655" y="494452"/>
            <a:ext cx="8595361" cy="542893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E4DE09-66C6-80E9-A27D-D30BEEAB5AD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610600" y="6507419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3DDE54-A93F-264A-8772-B0E2E830415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7FA63C3-499F-3748-D8E5-78FA093AE87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305092" y="6507419"/>
            <a:ext cx="55818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07 | EEEM068 Applied Machine Learning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8D39F2-00DE-05E9-1B48-5F0BA6B8D34D}"/>
              </a:ext>
            </a:extLst>
          </p:cNvPr>
          <p:cNvSpPr txBox="1"/>
          <p:nvPr/>
        </p:nvSpPr>
        <p:spPr>
          <a:xfrm>
            <a:off x="675681" y="1584503"/>
            <a:ext cx="8087309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ea typeface="Calibri"/>
                <a:cs typeface="Times New Roman"/>
              </a:rPr>
              <a:t>Planned metrics for evaluation:</a:t>
            </a:r>
          </a:p>
          <a:p>
            <a:endParaRPr lang="en-US" dirty="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Accuracy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Precision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Recall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F1-score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AUC-ROC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ea typeface="+mn-lt"/>
                <a:cs typeface="Times New Roman"/>
              </a:rPr>
              <a:t>Additional:</a:t>
            </a:r>
            <a:endParaRPr lang="en-US" b="1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Confusion matrix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Courier New"/>
              <a:buChar char="o"/>
            </a:pPr>
            <a:r>
              <a:rPr lang="en-US" dirty="0">
                <a:latin typeface="Times New Roman"/>
                <a:ea typeface="+mn-lt"/>
                <a:cs typeface="Times New Roman"/>
              </a:rPr>
              <a:t>Attention </a:t>
            </a:r>
            <a:r>
              <a:rPr lang="en-US" err="1">
                <a:latin typeface="Times New Roman"/>
                <a:ea typeface="+mn-lt"/>
                <a:cs typeface="Times New Roman"/>
              </a:rPr>
              <a:t>visualisation</a:t>
            </a:r>
            <a:endParaRPr lang="en-US" err="1">
              <a:latin typeface="Times New Roman"/>
              <a:cs typeface="Times New Roman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latin typeface="Times New Roman"/>
                <a:ea typeface="+mn-lt"/>
                <a:cs typeface="Times New Roman"/>
              </a:rPr>
              <a:t>OOD testing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1835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5F390-FACE-3B72-5E34-9F5FF775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2AD4C22-4B65-2480-2ED2-075452127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655" y="494452"/>
            <a:ext cx="8595361" cy="542893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Development Plan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23DC76-0754-B4BA-B4FD-43D18768F5B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8610600" y="6507419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3DDE54-A93F-264A-8772-B0E2E830415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9195FA-0AA0-FE3A-D0AB-5836A0757FC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305092" y="6507419"/>
            <a:ext cx="55818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07 | EEEM068 Applied Machine Learning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40AF5C2-2770-6E98-511F-88E2F858E003}"/>
              </a:ext>
            </a:extLst>
          </p:cNvPr>
          <p:cNvGraphicFramePr>
            <a:graphicFrameLocks noGrp="1"/>
          </p:cNvGraphicFramePr>
          <p:nvPr/>
        </p:nvGraphicFramePr>
        <p:xfrm>
          <a:off x="1197691" y="1822810"/>
          <a:ext cx="9796205" cy="3313744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3139086">
                  <a:extLst>
                    <a:ext uri="{9D8B030D-6E8A-4147-A177-3AD203B41FA5}">
                      <a16:colId xmlns:a16="http://schemas.microsoft.com/office/drawing/2014/main" val="1554627730"/>
                    </a:ext>
                  </a:extLst>
                </a:gridCol>
                <a:gridCol w="4569765">
                  <a:extLst>
                    <a:ext uri="{9D8B030D-6E8A-4147-A177-3AD203B41FA5}">
                      <a16:colId xmlns:a16="http://schemas.microsoft.com/office/drawing/2014/main" val="343168449"/>
                    </a:ext>
                  </a:extLst>
                </a:gridCol>
                <a:gridCol w="2087354">
                  <a:extLst>
                    <a:ext uri="{9D8B030D-6E8A-4147-A177-3AD203B41FA5}">
                      <a16:colId xmlns:a16="http://schemas.microsoft.com/office/drawing/2014/main" val="3871486315"/>
                    </a:ext>
                  </a:extLst>
                </a:gridCol>
              </a:tblGrid>
              <a:tr h="342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Phase</a:t>
                      </a:r>
                    </a:p>
                  </a:txBody>
                  <a:tcPr marL="139898" marR="209847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Description</a:t>
                      </a:r>
                    </a:p>
                  </a:txBody>
                  <a:tcPr marL="139898" marR="7286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Contribution</a:t>
                      </a:r>
                    </a:p>
                  </a:txBody>
                  <a:tcPr marL="139898" marR="7286" marT="69949" marB="69949" anchor="ctr"/>
                </a:tc>
                <a:extLst>
                  <a:ext uri="{0D108BD9-81ED-4DB2-BD59-A6C34878D82A}">
                    <a16:rowId xmlns:a16="http://schemas.microsoft.com/office/drawing/2014/main" val="862756146"/>
                  </a:ext>
                </a:extLst>
              </a:tr>
              <a:tr h="342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Data Understanding</a:t>
                      </a:r>
                    </a:p>
                  </a:txBody>
                  <a:tcPr marL="139898" marR="209847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MRI structure, labels, imbalance</a:t>
                      </a:r>
                    </a:p>
                  </a:txBody>
                  <a:tcPr marL="139898" marR="7286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All members</a:t>
                      </a:r>
                    </a:p>
                  </a:txBody>
                  <a:tcPr marL="139898" marR="7286" marT="69949" marB="69949" anchor="ctr"/>
                </a:tc>
                <a:extLst>
                  <a:ext uri="{0D108BD9-81ED-4DB2-BD59-A6C34878D82A}">
                    <a16:rowId xmlns:a16="http://schemas.microsoft.com/office/drawing/2014/main" val="873666758"/>
                  </a:ext>
                </a:extLst>
              </a:tr>
              <a:tr h="342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Preprocessing</a:t>
                      </a:r>
                    </a:p>
                  </a:txBody>
                  <a:tcPr marL="139898" marR="209847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3D → 2D, slice strategy</a:t>
                      </a:r>
                    </a:p>
                  </a:txBody>
                  <a:tcPr marL="139898" marR="7286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All members</a:t>
                      </a:r>
                    </a:p>
                  </a:txBody>
                  <a:tcPr marL="139898" marR="7286" marT="69949" marB="69949" anchor="ctr"/>
                </a:tc>
                <a:extLst>
                  <a:ext uri="{0D108BD9-81ED-4DB2-BD59-A6C34878D82A}">
                    <a16:rowId xmlns:a16="http://schemas.microsoft.com/office/drawing/2014/main" val="3325855133"/>
                  </a:ext>
                </a:extLst>
              </a:tr>
              <a:tr h="342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Model Development</a:t>
                      </a:r>
                    </a:p>
                  </a:txBody>
                  <a:tcPr marL="139898" marR="209847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ViT</a:t>
                      </a:r>
                      <a:r>
                        <a:rPr lang="en-US" sz="1800" dirty="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 implementation &amp; tuning</a:t>
                      </a:r>
                    </a:p>
                  </a:txBody>
                  <a:tcPr marL="139898" marR="7286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All members</a:t>
                      </a:r>
                    </a:p>
                  </a:txBody>
                  <a:tcPr marL="139898" marR="7286" marT="69949" marB="69949" anchor="ctr"/>
                </a:tc>
                <a:extLst>
                  <a:ext uri="{0D108BD9-81ED-4DB2-BD59-A6C34878D82A}">
                    <a16:rowId xmlns:a16="http://schemas.microsoft.com/office/drawing/2014/main" val="3647810239"/>
                  </a:ext>
                </a:extLst>
              </a:tr>
              <a:tr h="342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Training</a:t>
                      </a:r>
                    </a:p>
                  </a:txBody>
                  <a:tcPr marL="139898" marR="209847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Experiments &amp; hyperparameters tuning</a:t>
                      </a:r>
                    </a:p>
                  </a:txBody>
                  <a:tcPr marL="139898" marR="7286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All members</a:t>
                      </a:r>
                    </a:p>
                  </a:txBody>
                  <a:tcPr marL="139898" marR="7286" marT="69949" marB="69949" anchor="ctr"/>
                </a:tc>
                <a:extLst>
                  <a:ext uri="{0D108BD9-81ED-4DB2-BD59-A6C34878D82A}">
                    <a16:rowId xmlns:a16="http://schemas.microsoft.com/office/drawing/2014/main" val="2379315201"/>
                  </a:ext>
                </a:extLst>
              </a:tr>
              <a:tr h="342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Evaluation</a:t>
                      </a:r>
                    </a:p>
                  </a:txBody>
                  <a:tcPr marL="139898" marR="209847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Metrics, AUC, analysis</a:t>
                      </a:r>
                    </a:p>
                  </a:txBody>
                  <a:tcPr marL="139898" marR="7286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All members</a:t>
                      </a:r>
                    </a:p>
                  </a:txBody>
                  <a:tcPr marL="139898" marR="7286" marT="69949" marB="69949" anchor="ctr"/>
                </a:tc>
                <a:extLst>
                  <a:ext uri="{0D108BD9-81ED-4DB2-BD59-A6C34878D82A}">
                    <a16:rowId xmlns:a16="http://schemas.microsoft.com/office/drawing/2014/main" val="602005896"/>
                  </a:ext>
                </a:extLst>
              </a:tr>
              <a:tr h="342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Visualization</a:t>
                      </a:r>
                    </a:p>
                  </a:txBody>
                  <a:tcPr marL="139898" marR="209847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Attention maps, plots</a:t>
                      </a:r>
                    </a:p>
                  </a:txBody>
                  <a:tcPr marL="139898" marR="7286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All members</a:t>
                      </a:r>
                    </a:p>
                  </a:txBody>
                  <a:tcPr marL="139898" marR="7286" marT="69949" marB="69949" anchor="ctr"/>
                </a:tc>
                <a:extLst>
                  <a:ext uri="{0D108BD9-81ED-4DB2-BD59-A6C34878D82A}">
                    <a16:rowId xmlns:a16="http://schemas.microsoft.com/office/drawing/2014/main" val="3573436225"/>
                  </a:ext>
                </a:extLst>
              </a:tr>
              <a:tr h="342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Report &amp; PPT</a:t>
                      </a:r>
                    </a:p>
                  </a:txBody>
                  <a:tcPr marL="139898" marR="209847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Writing + explanation</a:t>
                      </a:r>
                    </a:p>
                  </a:txBody>
                  <a:tcPr marL="139898" marR="7286" marT="69949" marB="6994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rgbClr val="456C8C"/>
                          </a:solidFill>
                          <a:effectLst/>
                          <a:latin typeface="time"/>
                        </a:rPr>
                        <a:t>All members</a:t>
                      </a:r>
                    </a:p>
                  </a:txBody>
                  <a:tcPr marL="139898" marR="7286" marT="69949" marB="69949" anchor="ctr"/>
                </a:tc>
                <a:extLst>
                  <a:ext uri="{0D108BD9-81ED-4DB2-BD59-A6C34878D82A}">
                    <a16:rowId xmlns:a16="http://schemas.microsoft.com/office/drawing/2014/main" val="173856811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4702117-5044-31C5-0D4C-1B5013A8094A}"/>
              </a:ext>
            </a:extLst>
          </p:cNvPr>
          <p:cNvSpPr txBox="1"/>
          <p:nvPr/>
        </p:nvSpPr>
        <p:spPr>
          <a:xfrm>
            <a:off x="1199922" y="5514720"/>
            <a:ext cx="687918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"/>
                <a:ea typeface="Calibri"/>
                <a:cs typeface="Times"/>
              </a:rPr>
              <a:t>The provided plan involves the participants in all stages to understand complete pipeline</a:t>
            </a:r>
            <a:endParaRPr lang="en-US" sz="1400" dirty="0">
              <a:latin typeface="Times"/>
              <a:ea typeface="Calibri"/>
              <a:cs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758967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B6C1-2622-8651-6924-5B704E385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86D5737-A0EC-7EA9-0006-474CE52DA6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581401" y="6512448"/>
            <a:ext cx="5026108" cy="365125"/>
          </a:xfrm>
        </p:spPr>
        <p:txBody>
          <a:bodyPr/>
          <a:lstStyle/>
          <a:p>
            <a:r>
              <a:rPr lang="en-US"/>
              <a:t>Group 07 | EEEM068 Applied Machine Learning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7EFB4C-199C-972D-982E-216073C0A9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83DDE54-A93F-264A-8772-B0E2E830415F}" type="slidenum">
              <a:rPr lang="en-US" smtClean="0"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19DD01-6EAE-EF7C-4114-7011889C9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880628"/>
            <a:ext cx="8572500" cy="3488951"/>
          </a:xfrm>
          <a:prstGeom prst="rect">
            <a:avLst/>
          </a:prstGeom>
        </p:spPr>
      </p:pic>
      <p:sp>
        <p:nvSpPr>
          <p:cNvPr id="10" name="Title 10">
            <a:extLst>
              <a:ext uri="{FF2B5EF4-FFF2-40B4-BE49-F238E27FC236}">
                <a16:creationId xmlns:a16="http://schemas.microsoft.com/office/drawing/2014/main" id="{5F937800-D84E-854D-55D0-03FADBD29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655" y="494452"/>
            <a:ext cx="8595361" cy="542893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Development Plan</a:t>
            </a:r>
          </a:p>
        </p:txBody>
      </p:sp>
    </p:spTree>
    <p:extLst>
      <p:ext uri="{BB962C8B-B14F-4D97-AF65-F5344CB8AC3E}">
        <p14:creationId xmlns:p14="http://schemas.microsoft.com/office/powerpoint/2010/main" val="164345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E5F0B-6436-991E-BA2B-981CAEF77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B24B53-F3CD-16BB-3F96-6ACBE0EEF86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581401" y="6512448"/>
            <a:ext cx="5026108" cy="365125"/>
          </a:xfrm>
        </p:spPr>
        <p:txBody>
          <a:bodyPr/>
          <a:lstStyle/>
          <a:p>
            <a:r>
              <a:rPr lang="en-US"/>
              <a:t>Group 07 | EEEM068 Applied Machine Learning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097FF3-5EED-525F-D898-8792EC70D97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83DDE54-A93F-264A-8772-B0E2E830415F}" type="slidenum">
              <a:rPr lang="en-US" smtClean="0"/>
              <a:t>11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547AF97-78F3-D379-C514-AE174CBA5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pic>
        <p:nvPicPr>
          <p:cNvPr id="4" name="Picture 3" descr="A graph with blue squares&#10;&#10;AI-generated content may be incorrect.">
            <a:extLst>
              <a:ext uri="{FF2B5EF4-FFF2-40B4-BE49-F238E27FC236}">
                <a16:creationId xmlns:a16="http://schemas.microsoft.com/office/drawing/2014/main" id="{76784E8C-C10B-386A-FC88-0010AAEBB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65" y="1318707"/>
            <a:ext cx="8751795" cy="465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945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ity of Surrey">
      <a:dk1>
        <a:srgbClr val="243849"/>
      </a:dk1>
      <a:lt1>
        <a:srgbClr val="FEFFFE"/>
      </a:lt1>
      <a:dk2>
        <a:srgbClr val="253749"/>
      </a:dk2>
      <a:lt2>
        <a:srgbClr val="F1B43D"/>
      </a:lt2>
      <a:accent1>
        <a:srgbClr val="90199D"/>
      </a:accent1>
      <a:accent2>
        <a:srgbClr val="00A4B1"/>
      </a:accent2>
      <a:accent3>
        <a:srgbClr val="3559C3"/>
      </a:accent3>
      <a:accent4>
        <a:srgbClr val="349352"/>
      </a:accent4>
      <a:accent5>
        <a:srgbClr val="EF6180"/>
      </a:accent5>
      <a:accent6>
        <a:srgbClr val="CB323F"/>
      </a:accent6>
      <a:hlink>
        <a:srgbClr val="D47903"/>
      </a:hlink>
      <a:folHlink>
        <a:srgbClr val="871F4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oS_NewBrand_PPT_Basic" id="{E9F02EA3-7A0B-5448-9DBD-F9CD4D55F415}" vid="{58A67053-D670-BB47-A7ED-82EAB14FD0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b902693-1074-40aa-9e21-d89446a2ebb5}" enabled="0" method="" siteId="{6b902693-1074-40aa-9e21-d89446a2ebb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369</TotalTime>
  <Words>636</Words>
  <Application>Microsoft Office PowerPoint</Application>
  <PresentationFormat>Widescreen</PresentationFormat>
  <Paragraphs>126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Gotham</vt:lpstr>
      <vt:lpstr>time</vt:lpstr>
      <vt:lpstr>Times</vt:lpstr>
      <vt:lpstr>Times New Roman</vt:lpstr>
      <vt:lpstr>Office Theme</vt:lpstr>
      <vt:lpstr>Eeem068 applied machine learninG  </vt:lpstr>
      <vt:lpstr>Group Members</vt:lpstr>
      <vt:lpstr>Problem Statement</vt:lpstr>
      <vt:lpstr>Data Architecture: The MRNet Challenge</vt:lpstr>
      <vt:lpstr>methodology</vt:lpstr>
      <vt:lpstr>Methodology architecture</vt:lpstr>
      <vt:lpstr>transformer architecture</vt:lpstr>
      <vt:lpstr>Evaluation</vt:lpstr>
      <vt:lpstr>Collaborative Development Plan</vt:lpstr>
      <vt:lpstr>Collaborative Development Plan</vt:lpstr>
      <vt:lpstr>Gantt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Anjan Dutta</dc:creator>
  <cp:lastModifiedBy>Deepak raj</cp:lastModifiedBy>
  <cp:revision>356</cp:revision>
  <dcterms:created xsi:type="dcterms:W3CDTF">2025-05-16T11:29:36Z</dcterms:created>
  <dcterms:modified xsi:type="dcterms:W3CDTF">2026-03-26T21:17:01Z</dcterms:modified>
</cp:coreProperties>
</file>